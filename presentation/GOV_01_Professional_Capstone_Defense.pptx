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c46c4d86c74a64" /><Relationship Type="http://schemas.openxmlformats.org/officeDocument/2006/relationships/extended-properties" Target="/docProps/app.xml" Id="Rfbd8adcac4fe4720" /><Relationship Type="http://schemas.openxmlformats.org/officeDocument/2006/relationships/officeDocument" Target="/ppt/presentation.xml" Id="Ra9cbf6f8155f4e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6a3f826e724ccb"/>
  </p:sldMasterIdLst>
  <p:notesMasterIdLst>
    <p:notesMasterId xmlns:r="http://schemas.openxmlformats.org/officeDocument/2006/relationships" r:id="Rcc5c9f9d3a594b9c"/>
  </p:notesMasterIdLst>
  <p:sldIdLst>
    <p:sldId xmlns:r="http://schemas.openxmlformats.org/officeDocument/2006/relationships" id="256" r:id="R5a0936bc0a8c423e"/>
    <p:sldId xmlns:r="http://schemas.openxmlformats.org/officeDocument/2006/relationships" id="257" r:id="R1549bad4a62e43a7"/>
    <p:sldId xmlns:r="http://schemas.openxmlformats.org/officeDocument/2006/relationships" id="258" r:id="Rcaf67bdf0f3a4843"/>
    <p:sldId xmlns:r="http://schemas.openxmlformats.org/officeDocument/2006/relationships" id="259" r:id="Rcf6f233a59a244c5"/>
    <p:sldId xmlns:r="http://schemas.openxmlformats.org/officeDocument/2006/relationships" id="260" r:id="R80862185b19d408a"/>
    <p:sldId xmlns:r="http://schemas.openxmlformats.org/officeDocument/2006/relationships" id="261" r:id="Rceddcf4c379e4e1d"/>
    <p:sldId xmlns:r="http://schemas.openxmlformats.org/officeDocument/2006/relationships" id="262" r:id="R433fb56dba0c47b4"/>
    <p:sldId xmlns:r="http://schemas.openxmlformats.org/officeDocument/2006/relationships" id="263" r:id="R4ef307578d2e4534"/>
    <p:sldId xmlns:r="http://schemas.openxmlformats.org/officeDocument/2006/relationships" id="264" r:id="R16cde6ea07fd4da1"/>
    <p:sldId xmlns:r="http://schemas.openxmlformats.org/officeDocument/2006/relationships" id="265" r:id="R1c4c8839d6f449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e0688f0ea74555" /><Relationship Type="http://schemas.openxmlformats.org/officeDocument/2006/relationships/slideMaster" Target="/ppt/slideMasters/slideMaster1.xml" Id="R7d6a3f826e724ccb" /><Relationship Type="http://schemas.openxmlformats.org/officeDocument/2006/relationships/notesMaster" Target="/ppt/notesMasters/notesMaster1.xml" Id="Rcc5c9f9d3a594b9c" /><Relationship Type="http://schemas.openxmlformats.org/officeDocument/2006/relationships/presProps" Target="/ppt/presProps.xml" Id="Re866dae8d5174fbe" /><Relationship Type="http://schemas.openxmlformats.org/officeDocument/2006/relationships/tableStyles" Target="/ppt/tableStyles.xml" Id="R9dc20dcba4db43dc" /><Relationship Type="http://schemas.openxmlformats.org/officeDocument/2006/relationships/slide" Target="/ppt/slides/slide1.xml" Id="R5a0936bc0a8c423e" /><Relationship Type="http://schemas.openxmlformats.org/officeDocument/2006/relationships/slide" Target="/ppt/slides/slide2.xml" Id="R1549bad4a62e43a7" /><Relationship Type="http://schemas.openxmlformats.org/officeDocument/2006/relationships/slide" Target="/ppt/slides/slide3.xml" Id="Rcaf67bdf0f3a4843" /><Relationship Type="http://schemas.openxmlformats.org/officeDocument/2006/relationships/slide" Target="/ppt/slides/slide4.xml" Id="Rcf6f233a59a244c5" /><Relationship Type="http://schemas.openxmlformats.org/officeDocument/2006/relationships/slide" Target="/ppt/slides/slide5.xml" Id="R80862185b19d408a" /><Relationship Type="http://schemas.openxmlformats.org/officeDocument/2006/relationships/slide" Target="/ppt/slides/slide6.xml" Id="Rceddcf4c379e4e1d" /><Relationship Type="http://schemas.openxmlformats.org/officeDocument/2006/relationships/slide" Target="/ppt/slides/slide7.xml" Id="R433fb56dba0c47b4" /><Relationship Type="http://schemas.openxmlformats.org/officeDocument/2006/relationships/slide" Target="/ppt/slides/slide8.xml" Id="R4ef307578d2e4534" /><Relationship Type="http://schemas.openxmlformats.org/officeDocument/2006/relationships/slide" Target="/ppt/slides/slide9.xml" Id="R16cde6ea07fd4da1" /><Relationship Type="http://schemas.openxmlformats.org/officeDocument/2006/relationships/slide" Target="/ppt/slides/slide10.xml" Id="R1c4c8839d6f449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41f5320ea445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4cf12985884ac7" /><Relationship Type="http://schemas.openxmlformats.org/officeDocument/2006/relationships/notesMaster" Target="/ppt/notesMasters/notesMaster1.xml" Id="R6edf7aeee16141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98112d1b68421d" /><Relationship Type="http://schemas.openxmlformats.org/officeDocument/2006/relationships/notesMaster" Target="/ppt/notesMasters/notesMaster1.xml" Id="R05320565e28649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027f61bc624cdf" /><Relationship Type="http://schemas.openxmlformats.org/officeDocument/2006/relationships/notesMaster" Target="/ppt/notesMasters/notesMaster1.xml" Id="R6c1ada6259534b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2b8fd5fad74201" /><Relationship Type="http://schemas.openxmlformats.org/officeDocument/2006/relationships/notesMaster" Target="/ppt/notesMasters/notesMaster1.xml" Id="Rbd8a222cf36c4a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576874f65346b6" /><Relationship Type="http://schemas.openxmlformats.org/officeDocument/2006/relationships/notesMaster" Target="/ppt/notesMasters/notesMaster1.xml" Id="R879eb14d2a0d45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4272f6a31c4c0c" /><Relationship Type="http://schemas.openxmlformats.org/officeDocument/2006/relationships/notesMaster" Target="/ppt/notesMasters/notesMaster1.xml" Id="R0956fda711b044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c75beee4b04992" /><Relationship Type="http://schemas.openxmlformats.org/officeDocument/2006/relationships/notesMaster" Target="/ppt/notesMasters/notesMaster1.xml" Id="Rabbef2ea00d94e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87e7defbb44adb" /><Relationship Type="http://schemas.openxmlformats.org/officeDocument/2006/relationships/notesMaster" Target="/ppt/notesMasters/notesMaster1.xml" Id="Rcccd4bff70644a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3e4cf155dc4b96" /><Relationship Type="http://schemas.openxmlformats.org/officeDocument/2006/relationships/notesMaster" Target="/ppt/notesMasters/notesMaster1.xml" Id="Rbbce9feab48e44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c6ad52a7a34f10" /><Relationship Type="http://schemas.openxmlformats.org/officeDocument/2006/relationships/notesMaster" Target="/ppt/notesMasters/notesMaster1.xml" Id="Rab20d913314d41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public-service use case. State immediately that this is a binary triage assistant, not an autonomous road-safety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D:/GitHub/gov-01-road-damage-classifier-capstone/PROJECT_BRIEF.md</a:t>
            </a:r>
          </a:p>
          <a:p xmlns:a="http://schemas.openxmlformats.org/drawingml/2006/main">
            <a:r>
              <a:t>- D:/GitHub/gov-01-road-damage-classifier-capstone/README.md</a:t>
            </a:r>
          </a:p>
          <a:p xmlns:a="http://schemas.openxmlformats.org/drawingml/2006/main">
            <a:r>
              <a:t>- D:/GitHub/gov-01-road-damage-classifier-capstone/presentation/fallback_evidence/local_streamlit_prediction.png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operational value in plain language, then define the boundary before discussing performance. A human reviews every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D:/GitHub/gov-01-road-damage-classifier-capstone/PROJECT_BRIEF.md</a:t>
            </a:r>
          </a:p>
          <a:p xmlns:a="http://schemas.openxmlformats.org/drawingml/2006/main">
            <a:r>
              <a:t>- D:/GitHub/gov-01-road-damage-classifier-capstone/docs/RESPONSIBLE_AI_AND_LIMITATIONS.md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important data decision: the original test was not independent. The project rebuilt a duplicate-free stratified split and protected the new test until the candidate was locked.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D:/GitHub/gov-01-road-damage-classifier-capstone/docs/data_audit.md</a:t>
            </a:r>
          </a:p>
          <a:p xmlns:a="http://schemas.openxmlformats.org/drawingml/2006/main">
            <a:r>
              <a:t>- D:/GitHub/gov-01-road-damage-classifier-capstone/docs/split_summary.csv</a:t>
            </a:r>
          </a:p>
          <a:p xmlns:a="http://schemas.openxmlformats.org/drawingml/2006/main">
            <a:r>
              <a:t>- D:/GitHub/gov-01-road-damage-classifier-capstone/docs/clean_image_manifest.csv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left to right. Emphasize that the same deterministic preprocessing is used for validation, protected test, saved-model reload, and the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D:/GitHub/gov-01-road-damage-classifier-capstone/docs/preprocessing_manifest.json</a:t>
            </a:r>
          </a:p>
          <a:p xmlns:a="http://schemas.openxmlformats.org/drawingml/2006/main">
            <a:r>
              <a:t>- D:/GitHub/gov-01-road-damage-classifier-capstone/src/inference.py</a:t>
            </a:r>
          </a:p>
          <a:p xmlns:a="http://schemas.openxmlformats.org/drawingml/2006/main">
            <a:r>
              <a:t>- D:/GitHub/gov-01-road-damage-classifier-capstone/app.py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experiment ladder, not every training detail. Each step had a clear hypothesis. V3 is shown only as a rejected experiment, never as evidence for model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D:/GitHub/gov-01-road-damage-classifier-capstone/reports/experiment_record.csv</a:t>
            </a:r>
          </a:p>
          <a:p xmlns:a="http://schemas.openxmlformats.org/drawingml/2006/main">
            <a:r>
              <a:t>- D:/GitHub/gov-01-road-damage-classifier-capstone/reports/model_gate.md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Own the invalid V3 result. Finding and rejecting it strengthened the project. V4 corrected the preprocessing boundary and was locked before the protected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D:/GitHub/gov-01-road-damage-classifier-capstone/reports/experiment_record.csv</a:t>
            </a:r>
          </a:p>
          <a:p xmlns:a="http://schemas.openxmlformats.org/drawingml/2006/main">
            <a:r>
              <a:t>- D:/GitHub/gov-01-road-damage-classifier-capstone/reports/model_gate.md</a:t>
            </a:r>
          </a:p>
          <a:p xmlns:a="http://schemas.openxmlformats.org/drawingml/2006/main">
            <a:r>
              <a:t>- D:/GitHub/gov-01-road-damage-classifier-capstone/notebooks/GOV_01_mobilenetv2_transfer_v4.ipynb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protected-test rule before the numbers. Then interpret the confusion matrix: nine total errors, with missed potholes treated as the higher-risk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D:/GitHub/gov-01-road-damage-classifier-capstone/reports/model_gate.md</a:t>
            </a:r>
          </a:p>
          <a:p xmlns:a="http://schemas.openxmlformats.org/drawingml/2006/main">
            <a:r>
              <a:t>- D:/GitHub/gov-01-road-damage-classifier-capstone/reports/error_analysis/ERROR_ANALYSIS.md</a:t>
            </a:r>
          </a:p>
          <a:p xmlns:a="http://schemas.openxmlformats.org/drawingml/2006/main">
            <a:r>
              <a:t>- D:/GitHub/gov-01-road-damage-classifier-capstone/reports/mobilenetv2_frozen_v4_protected_test_confusion_matrix.png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screenshots as operational proof: the model reloads independently of training, the deterministic inference unit tests pass, and the deployed app only performs inference.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D:/GitHub/gov-01-road-damage-classifier-capstone/artifacts/reload_proof.md</a:t>
            </a:r>
          </a:p>
          <a:p xmlns:a="http://schemas.openxmlformats.org/drawingml/2006/main">
            <a:r>
              <a:t>- D:/GitHub/gov-01-road-damage-classifier-capstone/tests/test_inference.py</a:t>
            </a:r>
          </a:p>
          <a:p xmlns:a="http://schemas.openxmlformats.org/drawingml/2006/main">
            <a:r>
              <a:t>- D:/GitHub/gov-01-road-damage-classifier-capstone/docs/REPRODUCTION_TEST.md</a:t>
            </a:r>
          </a:p>
          <a:p xmlns:a="http://schemas.openxmlformats.org/drawingml/2006/main">
            <a:r>
              <a:t>- D:/GitHub/gov-01-road-damage-classifier-capstone/reports/mobilenetv2_frozen_v4_reload_proof.png</a:t>
            </a:r>
          </a:p>
          <a:p xmlns:a="http://schemas.openxmlformats.org/drawingml/2006/main">
            <a:r>
              <a:t>- D:/GitHub/gov-01-road-damage-classifier-capstone/presentation/fallback_evidence/local_inference_tests_passed.png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the upload and prediction flow if the public app is available. Read the human-review message aloud, then state the limits on image resolution, domain coverage, and external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D:/GitHub/gov-01-road-damage-classifier-capstone/app.py</a:t>
            </a:r>
          </a:p>
          <a:p xmlns:a="http://schemas.openxmlformats.org/drawingml/2006/main">
            <a:r>
              <a:t>- D:/GitHub/gov-01-road-damage-classifier-capstone/docs/RESPONSIBLE_AI_AND_LIMITATIONS.md</a:t>
            </a:r>
          </a:p>
          <a:p xmlns:a="http://schemas.openxmlformats.org/drawingml/2006/main">
            <a:r>
              <a:t>- D:/GitHub/gov-01-road-damage-classifier-capstone/data/README.md</a:t>
            </a:r>
          </a:p>
          <a:p xmlns:a="http://schemas.openxmlformats.org/drawingml/2006/main">
            <a:r>
              <a:t>- D:/GitHub/gov-01-road-damage-classifier-capstone/presentation/fallback_evidence/local_streamlit_prediction.png</a:t>
            </a:r>
          </a:p>
          <a:p xmlns:a="http://schemas.openxmlformats.org/drawingml/2006/main">
            <a:r>
              <a:t>- https://ff2050-gov01-road-damage.streamlit.app/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opening: the project delivers a reproducible triage signal with documented limits. Invite questions about data leakage, model selection, protected testing, deployment, or responsible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D:/GitHub/gov-01-road-damage-classifier-capstone/RUBRIC_EVIDENCE_MATRIX.md</a:t>
            </a:r>
          </a:p>
          <a:p xmlns:a="http://schemas.openxmlformats.org/drawingml/2006/main">
            <a:r>
              <a:t>- D:/GitHub/gov-01-road-damage-classifier-capstone/PROJECT_STATUS.md</a:t>
            </a:r>
          </a:p>
          <a:p xmlns:a="http://schemas.openxmlformats.org/drawingml/2006/main">
            <a:r>
              <a:t>- https://ff2050-gov01-road-damage.streamlit.app/</a:t>
            </a:r>
          </a:p>
          <a:p xmlns:a="http://schemas.openxmlformats.org/drawingml/2006/main">
            <a:r>
              <a:t>- https://github.com/Farrux-dot/gov-01-road-damage-classifier-capstone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78ebb47a5a4a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ea1d2a17134ba2" /><Relationship Type="http://schemas.openxmlformats.org/officeDocument/2006/relationships/slideLayout" Target="/ppt/slideLayouts/slideLayout1.xml" Id="R9561aeb7cc2a43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61aeb7cc2a43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5e3b96c854add" /><Relationship Type="http://schemas.openxmlformats.org/officeDocument/2006/relationships/image" Target="/ppt/media/image.png" Id="R8508128ad79f48f6" /><Relationship Type="http://schemas.openxmlformats.org/officeDocument/2006/relationships/notesSlide" Target="/ppt/notesSlides/notesSlide1.xml" Id="R365e8f0d8b7c43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1efa1aec441b4" /><Relationship Type="http://schemas.openxmlformats.org/officeDocument/2006/relationships/notesSlide" Target="/ppt/notesSlides/notesSlide2.xml" Id="R286eedd40b0040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7a417d1604015" /><Relationship Type="http://schemas.openxmlformats.org/officeDocument/2006/relationships/notesSlide" Target="/ppt/notesSlides/notesSlide3.xml" Id="R886b2249b0ab43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d853a70314a1c" /><Relationship Type="http://schemas.openxmlformats.org/officeDocument/2006/relationships/notesSlide" Target="/ppt/notesSlides/notesSlide4.xml" Id="R8ad62c0dfb4c40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92aaacab94b64" /><Relationship Type="http://schemas.openxmlformats.org/officeDocument/2006/relationships/notesSlide" Target="/ppt/notesSlides/notesSlide5.xml" Id="R22a1ba9355ae4b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4f07e8c07431f" /><Relationship Type="http://schemas.openxmlformats.org/officeDocument/2006/relationships/notesSlide" Target="/ppt/notesSlides/notesSlide6.xml" Id="Ra665355e416046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7bed7ba8a47d3" /><Relationship Type="http://schemas.openxmlformats.org/officeDocument/2006/relationships/image" Target="/ppt/media/image2.png" Id="R1a7a313ce54443fd" /><Relationship Type="http://schemas.openxmlformats.org/officeDocument/2006/relationships/notesSlide" Target="/ppt/notesSlides/notesSlide7.xml" Id="R983b9f00bdb64c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ad561e8984b23" /><Relationship Type="http://schemas.openxmlformats.org/officeDocument/2006/relationships/image" Target="/ppt/media/image3.png" Id="Re9856db5eed14eb8" /><Relationship Type="http://schemas.openxmlformats.org/officeDocument/2006/relationships/image" Target="/ppt/media/image4.png" Id="R8f05096359064076" /><Relationship Type="http://schemas.openxmlformats.org/officeDocument/2006/relationships/notesSlide" Target="/ppt/notesSlides/notesSlide8.xml" Id="R41a7c71d13614d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f6498bd29455f" /><Relationship Type="http://schemas.openxmlformats.org/officeDocument/2006/relationships/image" Target="/ppt/media/image5.png" Id="Ra7594a2d8ad6462c" /><Relationship Type="http://schemas.openxmlformats.org/officeDocument/2006/relationships/hyperlink" Target="https://ff2050-gov01-road-damage.streamlit.app/" TargetMode="External" Id="R489ae6d801d948a6" /><Relationship Type="http://schemas.openxmlformats.org/officeDocument/2006/relationships/notesSlide" Target="/ppt/notesSlides/notesSlide9.xml" Id="R00a3fcf787fa4b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a8a3589e748cf" /><Relationship Type="http://schemas.openxmlformats.org/officeDocument/2006/relationships/hyperlink" Target="https://ff2050-gov01-road-damage.streamlit.app/" TargetMode="External" Id="R2f7ceb478ed8406c" /><Relationship Type="http://schemas.openxmlformats.org/officeDocument/2006/relationships/hyperlink" Target="https://github.com/Farrux-dot/gov-01-road-damage-classifier-capstone" TargetMode="External" Id="R86cbf8a680b54746" /><Relationship Type="http://schemas.openxmlformats.org/officeDocument/2006/relationships/notesSlide" Target="/ppt/notesSlides/notesSlide10.xml" Id="Rfaa668c527d64b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95992-12BF-486B-8FC5-6C808E70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333DA-3FBC-4E4F-8B0A-E45ED32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70D8D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0D8D2"/>
                </a:solidFill>
                <a:latin typeface="Arial"/>
                <a:ea typeface="Arial"/>
                <a:cs typeface="Arial"/>
              </a:rPr>
              <a:t>CAPSTONE DEFENSE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44139-EF66-4579-92DE-EE2A21AC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49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GOV-01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B6D97-E742-4C60-8F35-28CA0CED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4686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Road Damage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291D0-3A31-4117-8CF8-44B7B508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45529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D9E6EE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D9E6EE"/>
                </a:solidFill>
                <a:latin typeface="Arial"/>
                <a:ea typeface="Arial"/>
                <a:cs typeface="Arial"/>
              </a:rPr>
              <a:t>A reproducible computer-vision pipeline for preliminary Normal vs Pothole triage—with human review retained.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B17D6-FD75-4A24-B644-C907434C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483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FARRUX OLIMOV  ·  AI/ML CAPSTONE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51A49-F437-47AE-A2C9-AE2B822A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085850"/>
            <a:ext cx="5295900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2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8128ad79f48f6"/>
          <a:stretch xmlns:a="http://schemas.openxmlformats.org/drawingml/2006/main"/>
        </p:blipFill>
        <p:spPr>
          <a:xfrm xmlns:a="http://schemas.openxmlformats.org/drawingml/2006/main">
            <a:off x="6305550" y="2074760"/>
            <a:ext cx="5219700" cy="1832180"/>
          </a:xfrm>
          <a:prstGeom xmlns:a="http://schemas.openxmlformats.org/drawingml/2006/main" prst="roundRect">
            <a:avLst>
              <a:gd name="adj" fmla="val 255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97E40-7714-4849-8C78-A9447353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57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PUBLIC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72A7D-2360-4E8E-8101-C8EFA801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626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ff2050-gov01-road-damage.streamlit.app</a:t>
            </a:r>
          </a:p>
        </p:txBody>
      </p:sp>
    </p:spTree>
    <p:extLst>
      <p:ext uri="{BB962C8B-B14F-4D97-AF65-F5344CB8AC3E}">
        <p14:creationId xmlns:p14="http://schemas.microsoft.com/office/powerpoint/2010/main" val="19291346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2E7263-D834-4B02-A287-D6BCF54A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PROBLEM AND STAKEHOLDER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900FA-5633-49E7-8FD4-69BEA024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triage assistant—not a safety decision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552450" y="1343025"/>
            <a:ext cx="11087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8EEF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20623-1DB4-4018-A22C-BF1300BF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A9323-998F-4B84-B1F9-9F8873C1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Municipal staff may receive many road photographs from inspectors and citizens. The model provides one consistent first signal to support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0DC29-2E37-4FDA-A6C7-7AA9C166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49530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8F7F5"/>
          </a:solidFill>
          <a:ln xmlns:a="http://schemas.openxmlformats.org/drawingml/2006/main" w="0">
            <a:solidFill>
              <a:srgbClr val="E8F7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8BAC5-E5E2-409D-BC5E-94F9540B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INTENDED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7C822-A174-413D-9343-4D6D56E1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52306-E625-4E6D-9F00-05EADD03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7F6D8-5952-48AF-AC19-85252ED5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195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8C7C5-5330-49B9-9BF2-A7FC23E0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24325"/>
            <a:ext cx="2143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One road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FFDC3-F1E1-4FEC-85AA-3E364C7F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4D6C6-62F6-4AE2-9C71-7E252150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052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0DB91-15CF-4D75-AB75-C1D038B7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195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97159-106B-4EE9-850C-9CA70964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24325"/>
            <a:ext cx="2143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Normal or Pothole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4451F-239D-46AA-A8BC-424537BA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9338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FEDAE-E556-49DF-B634-7EB24E1E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38300"/>
            <a:ext cx="56769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DF5FF"/>
          </a:solidFill>
          <a:ln xmlns:a="http://schemas.openxmlformats.org/drawingml/2006/main" w="0">
            <a:solidFill>
              <a:srgbClr val="EDF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103CF-5F76-436E-AB85-A0EAF0BE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85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IT DOES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6A681-D282-42B5-B55D-8B35090E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F1E16-1FE2-4D4B-A18E-1B209560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Classifies </a:t>
            </a:r>
            <a:r>
              <a:rPr sz="1500">
                <a:solidFill>
                  <a:srgbClr val="172B3A"/>
                </a:solidFill>
                <a:latin typeface="Arial"/>
                <a:ea typeface="Arial"/>
                <a:cs typeface="Arial"/>
              </a:rPr>
              <a:t>one image as Normal or Pothole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3BF2B-C2B2-4981-9BBD-C6A9B3E0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C09C5-9006-442C-9E90-9B7DA919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3845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Returns </a:t>
            </a:r>
            <a:r>
              <a:rPr sz="1500">
                <a:solidFill>
                  <a:srgbClr val="172B3A"/>
                </a:solidFill>
                <a:latin typeface="Arial"/>
                <a:ea typeface="Arial"/>
                <a:cs typeface="Arial"/>
              </a:rPr>
              <a:t>a pothole probability for human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C4A4CD-65D6-4634-9493-CF3C92D9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24250"/>
            <a:ext cx="56769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0">
            <a:solidFill>
              <a:srgbClr val="FCEC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AE0A9D-0090-4388-A2B9-92670388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71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64545"/>
                </a:solidFill>
                <a:latin typeface="Arial"/>
                <a:ea typeface="Arial"/>
                <a:cs typeface="Arial"/>
              </a:rPr>
              <a:t>WHAT IT MUST NOT DECIDE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DF8B63-EDE4-457E-9BF8-B61F6D2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EEDCD8-7C80-4223-88E0-22EF7F8A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910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No </a:t>
            </a:r>
            <a:r>
              <a:rPr sz="1500">
                <a:solidFill>
                  <a:srgbClr val="172B3A"/>
                </a:solidFill>
                <a:latin typeface="Arial"/>
                <a:ea typeface="Arial"/>
                <a:cs typeface="Arial"/>
              </a:rPr>
              <a:t>danger, size, depth, severity, or road-safety 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9EBDF9-62AE-4D81-BF5C-162CAF1C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4467B9-309B-49F7-B253-3E7BFBA6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No </a:t>
            </a:r>
            <a:r>
              <a:rPr sz="1500">
                <a:solidFill>
                  <a:srgbClr val="172B3A"/>
                </a:solidFill>
                <a:latin typeface="Arial"/>
                <a:ea typeface="Arial"/>
                <a:cs typeface="Arial"/>
              </a:rPr>
              <a:t>repair cost, repair priority, or automatic report closure</a:t>
            </a:r>
          </a:p>
        </p:txBody>
      </p:sp>
    </p:spTree>
    <p:extLst>
      <p:ext uri="{BB962C8B-B14F-4D97-AF65-F5344CB8AC3E}">
        <p14:creationId xmlns:p14="http://schemas.microsoft.com/office/powerpoint/2010/main" val="18544318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A0FA56-0339-49CC-B197-AD0687F1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DATA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851A5-F142-4F0F-A3D1-F7E79DBC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Leakage had to be removed before modeling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552450" y="1343025"/>
            <a:ext cx="11087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8EEF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B1184-F104-47FE-873A-E47C256D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1B4A3-B96E-422C-B184-F01FECC4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The supplied test folder duplicated training and validation images. Using it would make model performance look better than it really was.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E4C56-B2EE-4C8B-9795-727509F0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427EE-169D-43B6-BC5A-D25477F4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6A715-779C-4AFF-A71C-46FEB247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2800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1,401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05452-B345-41DE-956A-A4586614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images audited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all opened successfully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6F465-BA4F-449D-B39B-260B3D71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307C8-7EE8-41CC-AA49-6DA5F6B9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43EB5-D414-48BF-92D8-90FECB17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38450"/>
            <a:ext cx="2800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1,228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A970D-E9C6-448D-BCC7-EA960D06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242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unique labeled images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after exact-hash deduplication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69EC9-AF52-4A55-9EA7-539F87D6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985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0FB2A-DF9A-4517-BBD8-E431EA05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98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E612A-D3F3-4720-B20F-C061A84B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38450"/>
            <a:ext cx="2800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20190-D252-4C8D-BD92-7E48DBB5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exact-hash overlap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in the rebuilt split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5787F-47A2-4EA0-B6CC-8CCF224F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862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01A2C-F0D8-4B25-AA36-A1DD3EE5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81550"/>
            <a:ext cx="2571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E8EE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A8F05-2D2D-4DEC-BD00-F42A0334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81550"/>
            <a:ext cx="705736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B1CF71-F031-430B-8AB8-A38F763D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686" y="4781550"/>
            <a:ext cx="186601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0D039E-B8F1-47C0-8966-9BD25472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625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860 images  ·  236 Normal  ·  624 Pothole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A14447-9F03-49D5-94DC-DB1AAB6C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1BE174-968E-4675-82B6-3E283BDF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81550"/>
            <a:ext cx="2571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E8EE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9937CC-BD66-463E-B67A-E7D527C5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81550"/>
            <a:ext cx="708969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5AD3A9-1EEB-4D66-BD26-636ABC81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0519" y="4781550"/>
            <a:ext cx="1862781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2896A9-5502-4DA3-BB0F-042E03BE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625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185 images  ·  51 Normal  ·  134 Pothole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4930E4-07B6-428C-9363-E721A9C4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862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PROTECTED TEST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1E8E8D-F2E9-48D6-9F0A-59A1FB3A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81550"/>
            <a:ext cx="2571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E8EE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2EFE57-5D57-40E1-8257-D6EE6FCD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81550"/>
            <a:ext cx="702664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553A51-3636-4E2A-9F2F-93430A55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814" y="4781550"/>
            <a:ext cx="1869086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2EEE82-4909-4530-8531-E11990B8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625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183 images  ·  50 Normal  ·  133 Pothole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188B06-F8B9-448D-B013-E776DA71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828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Fixed stratified split  ·  seed 42  ·  raw supplied test excluded</a:t>
            </a:r>
          </a:p>
        </p:txBody>
      </p:sp>
    </p:spTree>
    <p:extLst>
      <p:ext uri="{BB962C8B-B14F-4D97-AF65-F5344CB8AC3E}">
        <p14:creationId xmlns:p14="http://schemas.microsoft.com/office/powerpoint/2010/main" val="18995135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B252E5-3E76-4DCE-9528-ABF38818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PREPROCESSING AND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AECC3-487D-4CBA-81E2-BB08943B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inference path is fixed end to end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552450" y="1343025"/>
            <a:ext cx="11087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8EEF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4E3DB-ADAF-41F8-A162-5EC99D2C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F80CD-2506-4509-B546-F6FB6BFC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1790700" cy="20002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FC718-0451-4BB3-8BDD-1E5E4433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F1AEF-1E74-48B9-A8BD-CF01666F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Road image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201A8-B047-43B0-873C-11EB8877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PNG or JPEG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8C975-6B03-4665-8F04-130F3C8E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43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 i="0">
                <a:solidFill>
                  <a:srgbClr val="00A7A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A7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820B1-6076-4F49-B4A5-58EB699C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05050"/>
            <a:ext cx="1790700" cy="20002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66B99-84CB-41FA-B286-9B57F57E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7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7E563-9E03-477E-94E0-8AC16A53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RGB resize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60051-74F9-4FA3-BB75-C6A5E0FE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224 × 224 pixels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42055-6E03-4EF4-AD8A-57942EB2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43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 i="0">
                <a:solidFill>
                  <a:srgbClr val="00A7A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A7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088C3-7F94-4423-9BC9-9070AD25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05050"/>
            <a:ext cx="1790700" cy="20002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493FF-D8B1-4D27-8D84-0E7F3A26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49F28-2984-42EB-9D52-68175079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74C63-1EE4-4E7D-B801-A4CCBCD3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052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MobileNetV2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26134E-FF7F-45FC-8876-2F97FAF4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 i="0">
                <a:solidFill>
                  <a:srgbClr val="00A7A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A7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3ED47-C695-43F8-AF86-6194F08B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05050"/>
            <a:ext cx="1790700" cy="20002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00325E-16A8-4A19-A022-DD8CEA65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7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1C61CD-351D-42E3-920C-081C086A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289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8D0C90-9DC4-411A-95F5-566484A6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052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Probability + label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63D283-3FDB-4332-A2E7-B9B4895D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 i="0">
                <a:solidFill>
                  <a:srgbClr val="00A7A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A7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63CEFA-B171-4231-B846-7650E316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05050"/>
            <a:ext cx="1790700" cy="20002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E8F7F5"/>
          </a:solidFill>
          <a:ln xmlns:a="http://schemas.openxmlformats.org/drawingml/2006/main" w="0">
            <a:solidFill>
              <a:srgbClr val="E8F7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0591E0-DBC8-4683-8B8E-0F14F98B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7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B4A799-44B0-4E87-834A-72C37E1B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73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16D028-3ABD-4642-9CAE-DD9591A1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052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Original image + context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AA0BF-CC20-48B8-9BB2-BABB0F9F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871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7E1"/>
          </a:solidFill>
          <a:ln xmlns:a="http://schemas.openxmlformats.org/drawingml/2006/main" w="0">
            <a:solidFill>
              <a:srgbClr val="FFF7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B2E926-D638-4DE8-B54A-2C296DAD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69E2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69E2E"/>
                </a:solidFill>
                <a:latin typeface="Arial"/>
                <a:ea typeface="Arial"/>
                <a:cs typeface="Arial"/>
              </a:rPr>
              <a:t>LEAKAGE CONTROL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14CB12-9CCA-4336-A02C-38CF00E6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43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Random flip, rotation, and zoom are applied only to training images. Validation, protected test, and live inference receive no random augmentation.</a:t>
            </a:r>
          </a:p>
        </p:txBody>
      </p:sp>
    </p:spTree>
    <p:extLst>
      <p:ext uri="{BB962C8B-B14F-4D97-AF65-F5344CB8AC3E}">
        <p14:creationId xmlns:p14="http://schemas.microsoft.com/office/powerpoint/2010/main" val="904044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4AC326-29E1-4F7A-B1F6-D12DE155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CONTROLLED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1B744-890E-4801-84FE-CE017DD8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Model comparison beat the majority baseline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552450" y="1343025"/>
            <a:ext cx="11087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8EEF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7FC48-F3FC-4D4F-B2B6-DFCF8FE6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D13C7-98D0-4F9C-899A-83D73F2C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Validation Macro F1 was the primary selection metric because the dataset is imbalanced and both classes matter.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CD094-E72F-4E95-82CD-F8579787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03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Naive majority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FEFF5-AB20-4A02-AF83-D5745C11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52700"/>
            <a:ext cx="581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9AA99-FBD8-4E43-BBD1-0029F7B8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52700"/>
            <a:ext cx="2440671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E8EE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23763-8BEF-4F9B-9EE4-D34753DC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62225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0.420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A3972-B181-4ED5-A859-DC307BD8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908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reference floor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39114-EB67-40D0-9882-4944E69B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1947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Compact CNN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E6A04-833F-4CCE-A691-6DF297B2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71850"/>
            <a:ext cx="581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88691-8B54-423B-BC33-C9351558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71850"/>
            <a:ext cx="3915516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F6922-41C9-4941-A16B-C30782E5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81375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0.674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45C86-4FAF-4AB7-AD3B-C1EEA614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09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learned visual patterns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45673-8C55-4F34-84CE-17F3F243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Class-weighted CNN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DD7C9-FA2F-475A-B2E8-8CF1B0D9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91000"/>
            <a:ext cx="581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03FB3-68BA-4E15-A2F3-E3F1EF45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91000"/>
            <a:ext cx="4504658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954A7-379D-4606-B639-F6600D77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00525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0.775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C4A45-123C-42E3-ADEA-FBCCF860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29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better class balance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06665-ED85-479E-992F-35D9B4BA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5777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Frozen MobileNetV2 V4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6976A-B485-49A9-9132-8C347FBB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10150"/>
            <a:ext cx="581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136238-F252-48FA-8720-C05D4506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10150"/>
            <a:ext cx="542169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24FC91-3D00-4D26-86D3-2856877E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19675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0.933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289C64-B8A6-4F0B-8174-DA37C5C3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48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selected candidate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1B3CFB-C842-414E-B7FF-20E80B0A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0">
            <a:solidFill>
              <a:srgbClr val="FCEC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F835F2-2CBD-4E39-A655-CD30043E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64545"/>
                </a:solidFill>
                <a:latin typeface="Arial"/>
                <a:ea typeface="Arial"/>
                <a:cs typeface="Arial"/>
              </a:rPr>
              <a:t>Excluded: MobileNetV2 V3 — validation images were randomly augmented, so its result was invalid for selection.</a:t>
            </a:r>
          </a:p>
        </p:txBody>
      </p:sp>
    </p:spTree>
    <p:extLst>
      <p:ext uri="{BB962C8B-B14F-4D97-AF65-F5344CB8AC3E}">
        <p14:creationId xmlns:p14="http://schemas.microsoft.com/office/powerpoint/2010/main" val="8305482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DF6258-5991-4844-A947-CB4B134C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QUALITY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7FDDA-DAF8-4EC6-B61E-BCC66D93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validation error was caught and corrected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552450" y="1343025"/>
            <a:ext cx="11087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8EEF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30D27-13B0-45EC-8CC0-4E511956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F4D8B-ACC4-4139-B26F-39248BBB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The strongest lesson was not a metric—it was protecting the evaluation boundary.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1143000" y="33909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8EEF2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36C07-D3F0-423E-AF04-E30C9B90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48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B3FA2-6EAE-4F86-B428-5149D4F8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64545"/>
                </a:solidFill>
                <a:latin typeface="Arial"/>
                <a:ea typeface="Arial"/>
                <a:cs typeface="Arial"/>
              </a:rPr>
              <a:t>V3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2FA87-44B4-46D8-AB18-4AEEE989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95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Detected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198F1-0A23-4A1E-95E7-67D10182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Random augmentation reached validation and inference.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43508-BB48-4D6A-8474-3F2A4E10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48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CB1E3-EAE1-4117-A8B6-1FA089F3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A7A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A7A0"/>
                </a:solidFill>
                <a:latin typeface="Arial"/>
                <a:ea typeface="Arial"/>
                <a:cs typeface="Arial"/>
              </a:rPr>
              <a:t>BOUNDARY FIX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564C1-273E-46A8-9720-244B466C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95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Corrected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CD3C6-83A0-4583-9C34-22C858F5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67200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Augmentation moved to the training loader only.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7FD46-B0ED-4B49-A732-C05872AE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48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2E43E-A2B3-4B44-8401-EB5FFF98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VALIDATION LEADER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854AC-2CE5-48FE-BF57-5A441260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195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Locked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8D3EC-0281-4FC2-869B-8F907132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67200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V4 selected before protected-test access.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5CE25-4ABA-4971-B47A-B802CDFC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14975"/>
            <a:ext cx="110871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7F5"/>
          </a:solidFill>
          <a:ln xmlns:a="http://schemas.openxmlformats.org/drawingml/2006/main" w="0">
            <a:solidFill>
              <a:srgbClr val="E8F7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F1024C-6185-4DD9-9C1F-F6E004EB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Locked configuration: MobileNetV2 V4  ·  224×224 RGB  ·  class weights  ·  threshold 0.50  ·  no post-test tuning</a:t>
            </a:r>
          </a:p>
        </p:txBody>
      </p:sp>
    </p:spTree>
    <p:extLst>
      <p:ext uri="{BB962C8B-B14F-4D97-AF65-F5344CB8AC3E}">
        <p14:creationId xmlns:p14="http://schemas.microsoft.com/office/powerpoint/2010/main" val="15761268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4C7B02-A32F-4AE3-9099-3018F8BA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PROTECTED-TEST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C5407-2B11-46F6-82F7-6099CB29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locked model held on unseen images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552450" y="1343025"/>
            <a:ext cx="11087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8EEF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767A3-BA91-4F34-9F00-7018DD07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39EC4-DD10-4631-8461-457F12F1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695950" cy="4248150"/>
          </a:xfrm>
          <a:prstGeom xmlns:a="http://schemas.openxmlformats.org/drawingml/2006/main" prst="roundRect">
            <a:avLst>
              <a:gd name="adj" fmla="val 31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2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a313ce54443fd"/>
          <a:stretch xmlns:a="http://schemas.openxmlformats.org/drawingml/2006/main"/>
        </p:blipFill>
        <p:spPr>
          <a:xfrm xmlns:a="http://schemas.openxmlformats.org/drawingml/2006/main">
            <a:off x="552450" y="1859464"/>
            <a:ext cx="5619750" cy="3882021"/>
          </a:xfrm>
          <a:prstGeom xmlns:a="http://schemas.openxmlformats.org/drawingml/2006/main" prst="roundRect">
            <a:avLst>
              <a:gd name="adj" fmla="val 228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B57B8-C0D0-4EEE-919C-63B2F08F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22479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CCF96-0FA2-4100-B225-B1841DC0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54ECB-62BB-4DAD-8903-BA1ACD00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431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0.940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DA5DA-A353-4DDB-9434-12DEE8C5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289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Macro F1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primary metric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21011-AD8A-42BD-A2B5-4103C61C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14500"/>
            <a:ext cx="22479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31B75-FDA0-4923-8EE1-76D7C55A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1450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5C4AF-BDD9-41FE-9CB8-4F23B898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43100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0.951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3E6DC-0CF8-4D1E-BD0E-EEABE6AC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289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Accuracy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on 183 images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1B9E3-2D4C-4886-80B4-E1F8E37C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05200"/>
            <a:ext cx="47815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43CA0-DECC-477A-BA97-348F4D1B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433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ERROR ACCOUNTING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6B839-2CB8-40FE-B37E-87BF85D8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91000"/>
            <a:ext cx="4057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48</a:t>
            </a:r>
            <a:r>
              <a:rPr sz="1500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 Normal images correctly identified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126</a:t>
            </a:r>
            <a:r>
              <a:rPr sz="1500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 potholes correctly identified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2</a:t>
            </a:r>
            <a:r>
              <a:rPr sz="1500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 false pothole alerts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7</a:t>
            </a:r>
            <a:r>
              <a:rPr sz="1500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 missed potholes — the higher-risk 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EC4F7-980E-44DB-A10E-54A3A891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674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Candidate locked before test access  ·  no tuning afterward</a:t>
            </a:r>
          </a:p>
        </p:txBody>
      </p:sp>
    </p:spTree>
    <p:extLst>
      <p:ext uri="{BB962C8B-B14F-4D97-AF65-F5344CB8AC3E}">
        <p14:creationId xmlns:p14="http://schemas.microsoft.com/office/powerpoint/2010/main" val="1103618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6B888-983E-4E34-BC2B-584199C7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REPRODUCIBILITY AND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B9B9F-A95F-42F2-BBD4-95D9007C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saved model works outside training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552450" y="1343025"/>
            <a:ext cx="11087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8EEF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EC747-62FB-411C-B2A2-80C272CC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8A50A-B5A6-4207-AA51-3CA78825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67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The final artifact was tested in a fresh runtime and through the local inference path before deployment.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562C4-68F2-4C8F-8EB4-327CEF53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5334000" cy="2247900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2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56db5eed14eb8"/>
          <a:stretch xmlns:a="http://schemas.openxmlformats.org/drawingml/2006/main"/>
        </p:blipFill>
        <p:spPr>
          <a:xfrm xmlns:a="http://schemas.openxmlformats.org/drawingml/2006/main">
            <a:off x="552450" y="2690708"/>
            <a:ext cx="5257800" cy="1476585"/>
          </a:xfrm>
          <a:prstGeom xmlns:a="http://schemas.openxmlformats.org/drawingml/2006/main" prst="roundRect">
            <a:avLst>
              <a:gd name="adj" fmla="val 438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22471-69D1-48C9-AA33-82680C04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05050"/>
            <a:ext cx="5543550" cy="2247900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2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5096359064076"/>
          <a:stretch xmlns:a="http://schemas.openxmlformats.org/drawingml/2006/main"/>
        </p:blipFill>
        <p:spPr>
          <a:xfrm xmlns:a="http://schemas.openxmlformats.org/drawingml/2006/main">
            <a:off x="6307505" y="2343150"/>
            <a:ext cx="5196739" cy="2171700"/>
          </a:xfrm>
          <a:prstGeom xmlns:a="http://schemas.openxmlformats.org/drawingml/2006/main" prst="roundRect">
            <a:avLst>
              <a:gd name="adj" fmla="val 4386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94A9A-D25A-4711-BFF7-7669A13A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FRESH-RUNTIME RELOAD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3222C-A82B-418D-B959-71BE11E0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Same label, same probability, difference 0.0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0DB7F-67DA-4754-9A19-D2E6D87E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244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LOCAL AUTOMATED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538ED-C926-436A-AC25-768DF62C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482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Image preparation, threshold logic, invalid probability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53753-AF54-434A-8292-13C70BE9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86425"/>
            <a:ext cx="110871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8F7F5"/>
          </a:solidFill>
          <a:ln xmlns:a="http://schemas.openxmlformats.org/drawingml/2006/main" w="0">
            <a:solidFill>
              <a:srgbClr val="E8F7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B0B0E-9F51-4D06-B2AD-978F3279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The app loads the saved Keras artifact; it does not retrain or modify the model.</a:t>
            </a:r>
          </a:p>
        </p:txBody>
      </p:sp>
    </p:spTree>
    <p:extLst>
      <p:ext uri="{BB962C8B-B14F-4D97-AF65-F5344CB8AC3E}">
        <p14:creationId xmlns:p14="http://schemas.microsoft.com/office/powerpoint/2010/main" val="21094224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92B70-A527-4E50-9808-96B001F7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DEPLOYMENT AND RESPONSIBLE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92803-37DC-4D8F-94B0-A0C5DB78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demo keeps a human in the loop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552450" y="1343025"/>
            <a:ext cx="11087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8EEF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51470-00A6-4854-AF60-3FEB7209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AF851-9BF2-4CF0-8D3D-1BAF2166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5734050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2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94a2d8ad6462c"/>
          <a:stretch xmlns:a="http://schemas.openxmlformats.org/drawingml/2006/main"/>
        </p:blipFill>
        <p:spPr>
          <a:xfrm xmlns:a="http://schemas.openxmlformats.org/drawingml/2006/main">
            <a:off x="552450" y="2607462"/>
            <a:ext cx="5657850" cy="1985976"/>
          </a:xfrm>
          <a:prstGeom xmlns:a="http://schemas.openxmlformats.org/drawingml/2006/main" prst="roundRect">
            <a:avLst>
              <a:gd name="adj" fmla="val 255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51E2A-3436-48C4-8504-4BAE4A21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9720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8F7F5"/>
          </a:solidFill>
          <a:ln xmlns:a="http://schemas.openxmlformats.org/drawingml/2006/main" w="0">
            <a:solidFill>
              <a:srgbClr val="E8F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66F3C-71A4-45F7-9D60-D0F4C877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716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F78"/>
                </a:solidFill>
                <a:latin typeface="Arial"/>
                <a:ea typeface="Arial"/>
                <a:cs typeface="Arial"/>
              </a:rPr>
              <a:t>PUBLIC ROUTE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D8B03-A774-4BEC-B616-7BD9B0F9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62200"/>
            <a:ext cx="4324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Streamlit demo
</a:t>
            </a:r>
            <a:r>
              <a:rPr sz="1500" u="sng">
                <a:solidFill>
                  <a:srgbClr val="172B3A"/>
                </a:solidFill>
                <a:latin typeface="Arial"/>
                <a:ea typeface="Arial"/>
                <a:cs typeface="Arial"/>
                <a:hlinkClick xmlns:r="http://schemas.openxmlformats.org/officeDocument/2006/relationships" r:id="R489ae6d801d948a6"/>
              </a:rPr>
              <a:t>ff2050-gov01-road-damage.streamlit.app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BD918-B11B-4F68-9E6C-3B19A4AF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97205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0">
            <a:solidFill>
              <a:srgbClr val="FCEC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F1EDD-57E7-438C-B6E1-1873AAED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766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64545"/>
                </a:solidFill>
                <a:latin typeface="Arial"/>
                <a:ea typeface="Arial"/>
                <a:cs typeface="Arial"/>
              </a:rPr>
              <a:t>REQUIRED HUMAN OVERSIGHT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2FC4E-FC1F-4CD4-A4AD-CF1F2C1E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17F90-EB64-44E1-9F12-FDFE8680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48150"/>
            <a:ext cx="394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Review </a:t>
            </a:r>
            <a:r>
              <a:rPr sz="1500">
                <a:solidFill>
                  <a:srgbClr val="172B3A"/>
                </a:solidFill>
                <a:latin typeface="Arial"/>
                <a:ea typeface="Arial"/>
                <a:cs typeface="Arial"/>
              </a:rPr>
              <a:t>the original image and report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41E58-0BAF-47A4-8240-1A8A33AA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33C497-06BD-4D17-8289-2F11A029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33925"/>
            <a:ext cx="394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Escalate </a:t>
            </a:r>
            <a:r>
              <a:rPr sz="1500">
                <a:solidFill>
                  <a:srgbClr val="172B3A"/>
                </a:solidFill>
                <a:latin typeface="Arial"/>
                <a:ea typeface="Arial"/>
                <a:cs typeface="Arial"/>
              </a:rPr>
              <a:t>unclear, dark, distant, or unusual scenes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DDFB7-C401-4C31-8ED1-A9D6AB9C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76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6347A3-760B-4B90-82DC-BC7332CC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19700"/>
            <a:ext cx="394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Never </a:t>
            </a:r>
            <a:r>
              <a:rPr sz="1500">
                <a:solidFill>
                  <a:srgbClr val="172B3A"/>
                </a:solidFill>
                <a:latin typeface="Arial"/>
                <a:ea typeface="Arial"/>
                <a:cs typeface="Arial"/>
              </a:rPr>
              <a:t>auto-close a report from a Normal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39276-C6E7-4C88-8041-A9FDBEB6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7083"/>
                </a:solidFill>
                <a:latin typeface="Arial"/>
                <a:ea typeface="Arial"/>
                <a:cs typeface="Arial"/>
              </a:rPr>
              <a:t>Dataset: low-resolution images from one source  ·  external municipal validation remains future work</a:t>
            </a:r>
          </a:p>
        </p:txBody>
      </p:sp>
    </p:spTree>
    <p:extLst>
      <p:ext uri="{BB962C8B-B14F-4D97-AF65-F5344CB8AC3E}">
        <p14:creationId xmlns:p14="http://schemas.microsoft.com/office/powerpoint/2010/main" val="9211539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4DA81-A94F-45DE-9922-C9A5A27E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70D8D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0D8D2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70F7E-730C-4390-9DD4-D5B6F4E3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5810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evidence chain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is complete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2F3A7-EF28-4164-B162-ED859363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D9E6EE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D9E6EE"/>
                </a:solidFill>
                <a:latin typeface="Arial"/>
                <a:ea typeface="Arial"/>
                <a:cs typeface="Arial"/>
              </a:rPr>
              <a:t>GOV-01 demonstrates an end-to-end AI/ML workflow: data audit, leakage control, controlled experiments, protected evaluation, reload proof, and a public demo.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87B49-B7A8-4855-8907-684F5BF9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066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FE81E-5B16-4492-B675-6BFA4C31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162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C68AE-6E07-4A19-A47D-CC8D3F55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EA452-930A-40F1-BB46-4969CD5D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287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C9D8E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9D8E3"/>
                </a:solidFill>
                <a:latin typeface="Arial"/>
                <a:ea typeface="Arial"/>
                <a:cs typeface="Arial"/>
              </a:rPr>
              <a:t>Every key claim maps to repository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E53DF-D3A3-4DB0-BC57-32DF774E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B75D1-50A2-46EE-943A-18FBCF8F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43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45AFF-69E3-4B7B-A5F1-BCF79D67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Honest 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CF6B6-CD59-454E-8B21-C3CFC58E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C9D8E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9D8E3"/>
                </a:solidFill>
                <a:latin typeface="Arial"/>
                <a:ea typeface="Arial"/>
                <a:cs typeface="Arial"/>
              </a:rPr>
              <a:t>The protected test was used once after candidate lock.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2D0C0-C655-4FBA-8874-C6477067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291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0E3D2-E053-4D4C-A956-C762C8D1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24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2967A-957E-4F46-9C78-F765F1C3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Responsible 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B3BEB-C192-4C29-B85C-7D971C9B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910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C9D8E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9D8E3"/>
                </a:solidFill>
                <a:latin typeface="Arial"/>
                <a:ea typeface="Arial"/>
                <a:cs typeface="Arial"/>
              </a:rPr>
              <a:t>The output supports review; it does not replace judgment.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590550" y="5219700"/>
            <a:ext cx="552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1627A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97D87-E71F-4A21-A32C-4A77442F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6153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  </a:t>
            </a:r>
            <a:r>
              <a:rPr sz="1275" u="sng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2f7ceb478ed8406c"/>
              </a:rPr>
              <a:t>ff2050-gov01-road-damage.streamlit.app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Repository  </a:t>
            </a:r>
            <a:r>
              <a:rPr sz="1275" u="sng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86cbf8a680b54746"/>
              </a:rPr>
              <a:t>github.com/Farrux-dot/gov-01-road-damage-classifier-capstone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3DCE2-B7E6-41A5-BB56-A8FA4642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0007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950" b="1" i="0">
                <a:solidFill>
                  <a:srgbClr val="70D8D2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0D8D2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507093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2026-08-27T07:03:32.1020000Z</dcterms:created>
  <dcterms:modified xsi:type="dcterms:W3CDTF">2026-08-27T07:03:32.1020000Z</dcterms:modified>
</coreProperties>
</file>