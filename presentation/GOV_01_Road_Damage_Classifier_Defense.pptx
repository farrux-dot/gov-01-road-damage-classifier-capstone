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373f4315f4cbf" /><Relationship Type="http://schemas.openxmlformats.org/officeDocument/2006/relationships/extended-properties" Target="/docProps/app.xml" Id="Redb9d9b1c0514416" /><Relationship Type="http://schemas.openxmlformats.org/officeDocument/2006/relationships/officeDocument" Target="/ppt/presentation.xml" Id="R299c9e539c36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6d7677c7e4be7"/>
  </p:sldMasterIdLst>
  <p:notesMasterIdLst>
    <p:notesMasterId xmlns:r="http://schemas.openxmlformats.org/officeDocument/2006/relationships" r:id="R28305f9657ee4258"/>
  </p:notesMasterIdLst>
  <p:sldIdLst>
    <p:sldId xmlns:r="http://schemas.openxmlformats.org/officeDocument/2006/relationships" id="256" r:id="R4708917b3f5e48e4"/>
    <p:sldId xmlns:r="http://schemas.openxmlformats.org/officeDocument/2006/relationships" id="257" r:id="R2cded819ef8c4be1"/>
    <p:sldId xmlns:r="http://schemas.openxmlformats.org/officeDocument/2006/relationships" id="258" r:id="Rc68f6411d3d74d39"/>
    <p:sldId xmlns:r="http://schemas.openxmlformats.org/officeDocument/2006/relationships" id="259" r:id="Rfb00ecb0d0984fef"/>
    <p:sldId xmlns:r="http://schemas.openxmlformats.org/officeDocument/2006/relationships" id="260" r:id="Ra27c1453141b4753"/>
    <p:sldId xmlns:r="http://schemas.openxmlformats.org/officeDocument/2006/relationships" id="261" r:id="Rcee3f0a6587147b4"/>
    <p:sldId xmlns:r="http://schemas.openxmlformats.org/officeDocument/2006/relationships" id="262" r:id="Rb0218aea958f41df"/>
    <p:sldId xmlns:r="http://schemas.openxmlformats.org/officeDocument/2006/relationships" id="263" r:id="R6741aa0f18cd4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f9204f8994d7c" /><Relationship Type="http://schemas.openxmlformats.org/officeDocument/2006/relationships/slideMaster" Target="/ppt/slideMasters/slideMaster1.xml" Id="R4996d7677c7e4be7" /><Relationship Type="http://schemas.openxmlformats.org/officeDocument/2006/relationships/notesMaster" Target="/ppt/notesMasters/notesMaster1.xml" Id="R28305f9657ee4258" /><Relationship Type="http://schemas.openxmlformats.org/officeDocument/2006/relationships/presProps" Target="/ppt/presProps.xml" Id="Ra49d8bc259944d0f" /><Relationship Type="http://schemas.openxmlformats.org/officeDocument/2006/relationships/tableStyles" Target="/ppt/tableStyles.xml" Id="R575fcb25103048fa" /><Relationship Type="http://schemas.openxmlformats.org/officeDocument/2006/relationships/slide" Target="/ppt/slides/slide1.xml" Id="R4708917b3f5e48e4" /><Relationship Type="http://schemas.openxmlformats.org/officeDocument/2006/relationships/slide" Target="/ppt/slides/slide2.xml" Id="R2cded819ef8c4be1" /><Relationship Type="http://schemas.openxmlformats.org/officeDocument/2006/relationships/slide" Target="/ppt/slides/slide3.xml" Id="Rc68f6411d3d74d39" /><Relationship Type="http://schemas.openxmlformats.org/officeDocument/2006/relationships/slide" Target="/ppt/slides/slide4.xml" Id="Rfb00ecb0d0984fef" /><Relationship Type="http://schemas.openxmlformats.org/officeDocument/2006/relationships/slide" Target="/ppt/slides/slide5.xml" Id="Ra27c1453141b4753" /><Relationship Type="http://schemas.openxmlformats.org/officeDocument/2006/relationships/slide" Target="/ppt/slides/slide6.xml" Id="Rcee3f0a6587147b4" /><Relationship Type="http://schemas.openxmlformats.org/officeDocument/2006/relationships/slide" Target="/ppt/slides/slide7.xml" Id="Rb0218aea958f41df" /><Relationship Type="http://schemas.openxmlformats.org/officeDocument/2006/relationships/slide" Target="/ppt/slides/slide8.xml" Id="R6741aa0f18cd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fc076bf79d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bcce17aed240d7" /><Relationship Type="http://schemas.openxmlformats.org/officeDocument/2006/relationships/notesMaster" Target="/ppt/notesMasters/notesMaster1.xml" Id="R44cfbc56b98048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d2ea2d52542b0" /><Relationship Type="http://schemas.openxmlformats.org/officeDocument/2006/relationships/notesMaster" Target="/ppt/notesMasters/notesMaster1.xml" Id="Rfe6f09f4a04c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103c057584976" /><Relationship Type="http://schemas.openxmlformats.org/officeDocument/2006/relationships/notesMaster" Target="/ppt/notesMasters/notesMaster1.xml" Id="R62918f3f24d3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4d9bc7e9a4061" /><Relationship Type="http://schemas.openxmlformats.org/officeDocument/2006/relationships/notesMaster" Target="/ppt/notesMasters/notesMaster1.xml" Id="R95d1876243d0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d3f346996486b" /><Relationship Type="http://schemas.openxmlformats.org/officeDocument/2006/relationships/notesMaster" Target="/ppt/notesMasters/notesMaster1.xml" Id="R00510b4bb884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09bca1eda4e90" /><Relationship Type="http://schemas.openxmlformats.org/officeDocument/2006/relationships/notesMaster" Target="/ppt/notesMasters/notesMaster1.xml" Id="Rf0c22a213627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fe2cf2503e44a2" /><Relationship Type="http://schemas.openxmlformats.org/officeDocument/2006/relationships/notesMaster" Target="/ppt/notesMasters/notesMaster1.xml" Id="R4abe5e4dcda6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a7e2a495a74f7f" /><Relationship Type="http://schemas.openxmlformats.org/officeDocument/2006/relationships/notesMaster" Target="/ppt/notesMasters/notesMaster1.xml" Id="Rd83306f3ba2c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PROJECT_BRIEF.md;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PROJECT_BRIEF.md; docs/RESPONSIBLE_AI_AND_LIMITATIONS.md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docs/data_audit.md; docs/split_summary.csv; docs/clean_image_manifest.csv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docs/preprocessing_manifest.json; src/inference.py; reports/model_gate.md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reports/experiment_record.csv; reports/model_gate.md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reports/model_gate.md; reports/error_analysis/ERROR_ANALYSIS.md; reports/mobilenetv2_frozen_v4_protected_test_confusion_matrix.png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app.py; src/inference.py; docs/REPRODUCTION_TEST.md; presentation/fallback_evidence/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RUBRIC_EVIDENCE_MATRIX.md; docs/RESPONSIBLE_AI_AND_LIMITATIONS.md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b17faa56f40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97e1d5f42b49b8" /><Relationship Type="http://schemas.openxmlformats.org/officeDocument/2006/relationships/slideLayout" Target="/ppt/slideLayouts/slideLayout1.xml" Id="R7171109f2c08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1109f2c08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06f099f124e0d" /><Relationship Type="http://schemas.openxmlformats.org/officeDocument/2006/relationships/notesSlide" Target="/ppt/notesSlides/notesSlide1.xml" Id="Rcd6902f93f2a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c439b3db41c9" /><Relationship Type="http://schemas.openxmlformats.org/officeDocument/2006/relationships/notesSlide" Target="/ppt/notesSlides/notesSlide2.xml" Id="Rb95da2efeec8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ce06c388a4b93" /><Relationship Type="http://schemas.openxmlformats.org/officeDocument/2006/relationships/notesSlide" Target="/ppt/notesSlides/notesSlide3.xml" Id="Rf42be34833c243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899c6ca3e4430" /><Relationship Type="http://schemas.openxmlformats.org/officeDocument/2006/relationships/notesSlide" Target="/ppt/notesSlides/notesSlide4.xml" Id="R9325cec7b9d5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983342164412" /><Relationship Type="http://schemas.openxmlformats.org/officeDocument/2006/relationships/chart" Target="/ppt/slides/charts/chart1.xml" Id="Rba20e52be3194f65" /><Relationship Type="http://schemas.openxmlformats.org/officeDocument/2006/relationships/notesSlide" Target="/ppt/notesSlides/notesSlide5.xml" Id="Rf586c79162e647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b165ec02e4a1c" /><Relationship Type="http://schemas.openxmlformats.org/officeDocument/2006/relationships/image" Target="/ppt/media/image.png" Id="Recbc41a2029d4c9c" /><Relationship Type="http://schemas.openxmlformats.org/officeDocument/2006/relationships/notesSlide" Target="/ppt/notesSlides/notesSlide6.xml" Id="R6c969c008c53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e278551a64afd" /><Relationship Type="http://schemas.openxmlformats.org/officeDocument/2006/relationships/image" Target="/ppt/media/image2.png" Id="R55bdf40e71de41f6" /><Relationship Type="http://schemas.openxmlformats.org/officeDocument/2006/relationships/notesSlide" Target="/ppt/notesSlides/notesSlide7.xml" Id="R108fd41a5883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c5dca40049ce" /><Relationship Type="http://schemas.openxmlformats.org/officeDocument/2006/relationships/notesSlide" Target="/ppt/notesSlides/notesSlide8.xml" Id="Reb12f4e0c409430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Validation Macro F1</c:v>
          </c:tx>
          <c:spPr>
            <a:solidFill xmlns:a="http://schemas.openxmlformats.org/drawingml/2006/main">
              <a:srgbClr val="2864DC"/>
            </a:solidFill>
          </c:spPr>
          <c:cat>
            <c:strLit>
              <c:ptCount val="4"/>
              <c:pt idx="0">
                <c:v>Naive</c:v>
              </c:pt>
              <c:pt idx="1">
                <c:v>Compact CNN</c:v>
              </c:pt>
              <c:pt idx="2">
                <c:v>Weighted CNN</c:v>
              </c:pt>
              <c:pt idx="3">
                <c:v>MobileNetV2 V4</c:v>
              </c:pt>
            </c:strLit>
          </c:cat>
          <c:val>
            <c:numLit>
              <c:formatCode>General</c:formatCode>
              <c:ptCount val="4"/>
              <c:pt idx="0">
                <c:v>0.420063</c:v>
              </c:pt>
              <c:pt idx="1">
                <c:v>0.673898</c:v>
              </c:pt>
              <c:pt idx="2">
                <c:v>0.775295</c:v>
              </c:pt>
              <c:pt idx="3">
                <c:v>0.933126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4DA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E9ADD-5D45-4CDF-B13E-0770498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AI/ML CAPSTONE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E84E4-AB2E-449C-9697-2FE345D7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GOV-01 Road Damage</a:t>
            </a:r>
          </a:p>
          <a:p xmlns:a="http://schemas.openxmlformats.org/drawingml/2006/main">
            <a:pPr algn="l">
              <a:defRPr sz="52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E6E5A-DA03-4F5E-A490-D9AA4EAE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A reproducible Normal-or-Pothole classifier</a:t>
            </a:r>
          </a:p>
          <a:p xmlns:a="http://schemas.openxmlformats.org/drawingml/2006/main">
            <a:pPr algn="l">
              <a:defRPr sz="210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for municipal human-review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8C3FB-8762-47FF-B6BE-26F792B4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66DDC-2ECF-44FE-8438-4DED857E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V1</a:t>
            </a:r>
          </a:p>
          <a:p xmlns:a="http://schemas.openxmlformats.org/drawingml/2006/main">
            <a:pPr algn="ctr">
              <a:defRPr sz="34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5435-4DF2-4063-8A26-C29247B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Final model: mobilenetv2_frozen_v4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E10A9-5C0E-41D1-8410-0E3A7FDD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Module 8 • Farrux</a:t>
            </a:r>
          </a:p>
        </p:txBody>
      </p:sp>
    </p:spTree>
    <p:extLst>
      <p:ext uri="{BB962C8B-B14F-4D97-AF65-F5344CB8AC3E}">
        <p14:creationId xmlns:p14="http://schemas.microsoft.com/office/powerpoint/2010/main" val="1456563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FC97-D602-4889-96D3-149F5B3B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SCOPE AND INTENDED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CC37-375D-4338-B43C-CD586ED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One clear task: support human review of a road photo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72A01-3618-4235-B7B6-02B75CC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6290-A022-4E52-8CC5-B989641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9525">
            <a:solidFill>
              <a:srgbClr val="1379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4F864-6B3B-4B3A-9BD5-FED03395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IN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FD595-BA8D-4B08-B6DF-E5305F7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Normal or Pothole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 probability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 first signal for a human reviewer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DD653-D633-4880-AC2D-19E98B85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B547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87F5A-DB79-4D7F-8753-884E6267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47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4747"/>
                </a:solidFill>
                <a:latin typeface="Arial"/>
                <a:ea typeface="Arial"/>
                <a:cs typeface="Arial"/>
              </a:rPr>
              <a:t>NOT IN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F93DA-51EF-46BC-A9F1-E99BC790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9875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severity or physical size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danger, safety, or repair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repair priority or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6550-53CF-451A-A0D9-15D842F8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The classifier is educational triage support—not an automated municipal decision-maker.</a:t>
            </a:r>
          </a:p>
        </p:txBody>
      </p:sp>
    </p:spTree>
    <p:extLst>
      <p:ext uri="{BB962C8B-B14F-4D97-AF65-F5344CB8AC3E}">
        <p14:creationId xmlns:p14="http://schemas.microsoft.com/office/powerpoint/2010/main" val="415087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7DDA8-FA7B-40D5-95C5-8F2B8B9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DATA QUALITY AND LEAKAGE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CA3DD-EAE2-4878-B281-F7AB58A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Cleaning the dataset was necessary before model training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51F70-4FEE-4C3E-AD84-A81A8F4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75CF-1426-4603-8F80-47B1DC79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13AE-7279-44A7-8A0E-F4C4E25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1,228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C3D97-C998-4C17-B014-B7C0A633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unique labelled images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in the clean V1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64388-B3A0-4F3C-99AA-4E09898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B36A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10252-325C-4953-BB1C-D0D9462F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28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36A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6A00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46A51-3D10-4D03-8949-C2626B0B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duplicate groups found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and removed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18BDA-4CDF-43DA-8FB3-94B7B36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9525">
            <a:solidFill>
              <a:srgbClr val="137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AF0D3-0F33-489E-A867-6E6B52F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70 / 15 / 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6778C-AA8A-4762-BDDD-1760405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train / validation /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protected test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58A69-AD55-439D-9004-2C1C751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AA2F6-14D8-47A4-8C32-5E8E3AD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Important finding: the supplied test folder contained duplicates, so it was excluded. The rebuilt clean split has no exact-hash overlap across train, validation, and test.</a:t>
            </a:r>
          </a:p>
        </p:txBody>
      </p:sp>
    </p:spTree>
    <p:extLst>
      <p:ext uri="{BB962C8B-B14F-4D97-AF65-F5344CB8AC3E}">
        <p14:creationId xmlns:p14="http://schemas.microsoft.com/office/powerpoint/2010/main" val="1547631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42942-6822-40EB-A24E-A58BF3AD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CONTROLLED INFERENCE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F4839-5C60-46F2-AA92-9759526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One image follows the same preprocessing path every time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E15A6-D999-4445-A07F-D5EC30D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476500" y="34480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64DC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4752975" y="34480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64DC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7029450" y="34480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64DC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9305925" y="34480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64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5687-5C6D-4445-B06C-0C9583B5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866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042CB-D63C-4A70-B01C-F34BBA4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Road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5A380-1A6E-4FEE-B2F6-BC8B1B32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62250"/>
            <a:ext cx="1866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8242F-5B3C-4AA4-8787-6385856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9562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RGB resize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224 × 224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0CC7F-173C-4817-BE82-0475B9C2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62250"/>
            <a:ext cx="1866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E2545-F439-4C15-89D5-D48980E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MobileNetV2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66809-7962-4905-9123-A4CC8DAE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62250"/>
            <a:ext cx="1866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ADCAD-F61F-4484-B2DC-4562B8E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V1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06C5A-E5CD-42DE-AE1E-2661660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1866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9525">
            <a:solidFill>
              <a:srgbClr val="1379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012F4-96AF-4C22-A429-AE802640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Probability +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D4356-96B5-4E08-B968-2FEE636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Training-time augmentation was used only on training images. Validation and protected test images were not randomly altered.</a:t>
            </a:r>
          </a:p>
        </p:txBody>
      </p:sp>
    </p:spTree>
    <p:extLst>
      <p:ext uri="{BB962C8B-B14F-4D97-AF65-F5344CB8AC3E}">
        <p14:creationId xmlns:p14="http://schemas.microsoft.com/office/powerpoint/2010/main" val="1454001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58178-298B-40B1-AACD-C6839339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MODEL SELECTION USED 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29236-7841-4860-8A3C-005CF6DD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Corrected frozen MobileNetV2 V4 was the clear V1 candidate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8B35-A510-4A25-BFED-61677B68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20e52be3194f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883F0-CFBC-46D7-91BD-6F23EFEB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9525">
            <a:solidFill>
              <a:srgbClr val="137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A8179-E1C4-4513-8B30-3C6F4501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98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SELECTED</a:t>
            </a:r>
          </a:p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V4 validation Macro F1: 0.933126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D730-4F7B-478F-8011-30A3D82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810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B36A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9AD2-8F9F-4F71-904D-81B4C96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Historical V3 was not used for selection because random augmentation affected validation images. The corrected V4 run replaced it.</a:t>
            </a:r>
          </a:p>
        </p:txBody>
      </p:sp>
    </p:spTree>
    <p:extLst>
      <p:ext uri="{BB962C8B-B14F-4D97-AF65-F5344CB8AC3E}">
        <p14:creationId xmlns:p14="http://schemas.microsoft.com/office/powerpoint/2010/main" val="2111963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C7E9A-F71C-4BC0-B3E6-AD61707B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FINAL EVALUATION WAS DONE ONCE ON PROTECTED TEST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79426-B79B-4ABD-B452-C1FB494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V1 generalizes well on this project’s clean held-out split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97150-0C71-4E79-9EB4-996DE87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F6B06-16C3-45CE-92B9-842A61A4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0.939901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73AC3-952D-41C5-95F7-7506AFD9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Protected-test Macro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75799-1658-40F8-B286-567A70A1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95.1%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2B202-5D94-4619-B0E8-8F9FFCF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Accuracy on 183 protected 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E7CC0-64C4-42E4-8505-29A1F11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476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B36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56909-5FAA-4D3E-B872-4688ACB3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7 missed potholes • 2 false alerts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Human review remains required.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c41a2029d4c9c"/>
          <a:stretch xmlns:a="http://schemas.openxmlformats.org/drawingml/2006/main"/>
        </p:blipFill>
        <p:spPr>
          <a:xfrm xmlns:a="http://schemas.openxmlformats.org/drawingml/2006/main">
            <a:off x="5667375" y="1948635"/>
            <a:ext cx="5334000" cy="368463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907295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6892E-83E5-4C33-9847-4DC6927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THE DEMO LOADS THE FINAL SAVED MODEL—IT DOES NOT TRAIN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BF017-4482-4E40-913E-B4B97BA6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 local Streamlit route makes one new-image prediction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5F001-28F6-465B-8C7B-B714992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6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f40e71de41f6"/>
          <a:stretch xmlns:a="http://schemas.openxmlformats.org/drawingml/2006/main"/>
        </p:blipFill>
        <p:spPr>
          <a:xfrm xmlns:a="http://schemas.openxmlformats.org/drawingml/2006/main">
            <a:off x="609600" y="2745166"/>
            <a:ext cx="5524500" cy="1939169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132D1-29D0-49E7-A804-C234539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42481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864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0B43E-E743-4155-8A90-D289E6FE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Saved Keras model</a:t>
            </a:r>
          </a:p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loaded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D3BE0-9CCD-4336-A1D0-9B4CF7B5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2481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9525">
            <a:solidFill>
              <a:srgbClr val="137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3ED3-01D7-4501-8547-EC549B7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Inference tests</a:t>
            </a:r>
          </a:p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passed before the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B80C5-5886-48E8-9A5D-4D53061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248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7372E-C8E0-41B0-91C1-BDEDE5F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53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private .keras file is intentionally not stored on GitHub.</a:t>
            </a:r>
          </a:p>
        </p:txBody>
      </p:sp>
    </p:spTree>
    <p:extLst>
      <p:ext uri="{BB962C8B-B14F-4D97-AF65-F5344CB8AC3E}">
        <p14:creationId xmlns:p14="http://schemas.microsoft.com/office/powerpoint/2010/main" val="1872241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622FC-31FD-4E87-A922-4B0918CC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83E64-7679-48E0-899B-26A347D2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V1 is a strong, reproducible</a:t>
            </a:r>
          </a:p>
          <a:p xmlns:a="http://schemas.openxmlformats.org/drawingml/2006/main">
            <a:pPr algn="l">
              <a:defRPr sz="41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educational triage model—</a:t>
            </a:r>
          </a:p>
          <a:p xmlns:a="http://schemas.openxmlformats.org/drawingml/2006/main">
            <a:pPr algn="l">
              <a:defRPr sz="41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with clear limits.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666750" y="35433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A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1A440-0C8E-42DA-A4E0-9F5C144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795B"/>
                </a:solidFill>
                <a:latin typeface="Arial"/>
                <a:ea typeface="Arial"/>
                <a:cs typeface="Arial"/>
              </a:rPr>
              <a:t>What is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318FA-22F2-408A-A863-1C48673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V1 MobilenetV2 V4 on main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Protected test recorded once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Local reproducible demo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3199-85ED-4366-9ED0-4DCD231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C0B00-DAE9-4B84-8AD9-1BDAFB6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2912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External, diverse road evaluation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Review false classifications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Do not tune after protected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3BD9A-0D57-49CD-9F92-9A296D51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229563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2026-08-10T15:09:17.4830000Z</dcterms:created>
  <dcterms:modified xsi:type="dcterms:W3CDTF">2026-08-10T15:09:17.4830000Z</dcterms:modified>
</coreProperties>
</file>